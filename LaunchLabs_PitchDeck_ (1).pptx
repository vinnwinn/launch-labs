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mbHt5ZIMekMVWaeBw/RZMeLzX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2C6251-386D-4156-ABA0-8030AD6EFC84}">
  <a:tblStyle styleId="{792C6251-386D-4156-ABA0-8030AD6EFC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26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dba56ff5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rasterized-gradient-e8fc8caf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821452" y="1169640"/>
            <a:ext cx="550094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mpact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Intelligence Layer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mpact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for Jump Training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310630" y="2465040"/>
            <a:ext cx="6522592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Automated performance diagnosis &amp; prescription for athletic coaches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937584" y="3215580"/>
            <a:ext cx="1425446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$4.2B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937584" y="3813721"/>
            <a:ext cx="142544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Sports Performance Market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730055" y="3215580"/>
            <a:ext cx="9525" cy="75813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109863" y="3215580"/>
            <a:ext cx="1093146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109863" y="3813721"/>
            <a:ext cx="109314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CAGR Through 2028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04800" y="4781550"/>
            <a:ext cx="156070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Series Seed Investment Opportunity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61896" y="4781550"/>
            <a:ext cx="5888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January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4ac72a66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609600" y="266700"/>
            <a:ext cx="81221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09600" y="470446"/>
            <a:ext cx="43622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Coaches Are Drowning in Data, Starving for Insights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9100" y="1337816"/>
            <a:ext cx="4095750" cy="990302"/>
          </a:xfrm>
          <a:prstGeom prst="roundRect">
            <a:avLst>
              <a:gd fmla="val 11542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38150" y="1337816"/>
            <a:ext cx="0" cy="990302"/>
          </a:xfrm>
          <a:prstGeom prst="straightConnector1">
            <a:avLst/>
          </a:prstGeom>
          <a:noFill/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647700" y="1528316"/>
            <a:ext cx="375018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⏱️ 4+ Hours Per Week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7700" y="1791146"/>
            <a:ext cx="3750183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Manually analyzing jump metrics, identifying weaknesses, and programming workouts for each athlete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19100" y="2480518"/>
            <a:ext cx="4095750" cy="990302"/>
          </a:xfrm>
          <a:prstGeom prst="roundRect">
            <a:avLst>
              <a:gd fmla="val 11542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438150" y="2480518"/>
            <a:ext cx="0" cy="990302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647700" y="2671018"/>
            <a:ext cx="375018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📊 Data Without Direction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7700" y="2933849"/>
            <a:ext cx="3750183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Force plates generate numbers, but coaches need actionable training prescriptions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19100" y="3623221"/>
            <a:ext cx="4095750" cy="990302"/>
          </a:xfrm>
          <a:prstGeom prst="roundRect">
            <a:avLst>
              <a:gd fmla="val 11542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438150" y="3623221"/>
            <a:ext cx="0" cy="990302"/>
          </a:xfrm>
          <a:prstGeom prst="straightConnector1">
            <a:avLst/>
          </a:prstGeom>
          <a:noFill/>
          <a:ln cap="flat" cmpd="sng" w="381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647700" y="3813721"/>
            <a:ext cx="375018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🎯 Expertise Bottleneck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7700" y="4076551"/>
            <a:ext cx="3750183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Only elite S&amp;C coaches know how to translate RSI, GCT, and asymmetry into specific corrections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d9246366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50" y="1587847"/>
            <a:ext cx="4095750" cy="15601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981575" y="1825972"/>
            <a:ext cx="369189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"I have a $15,000 force plate system. It tells me my athletes' RSI is 1.8. What it doesn't tell me is </a:t>
            </a:r>
            <a:r>
              <a:rPr b="1" i="1" lang="en-US" sz="135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what to do about it.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981575" y="2749897"/>
            <a:ext cx="369189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D1 Volleyball Strength Coach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43450" y="3300413"/>
            <a:ext cx="1990725" cy="1062782"/>
          </a:xfrm>
          <a:prstGeom prst="roundRect">
            <a:avLst>
              <a:gd fmla="val 1075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78991" y="3452813"/>
            <a:ext cx="171964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78991" y="3917603"/>
            <a:ext cx="1719644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of coaches say data interpretation is their biggest challenge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848475" y="3300413"/>
            <a:ext cx="1990725" cy="1062782"/>
          </a:xfrm>
          <a:prstGeom prst="roundRect">
            <a:avLst>
              <a:gd fmla="val 1075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984016" y="3452813"/>
            <a:ext cx="171964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$847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84016" y="3917603"/>
            <a:ext cx="1719644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avg hourly cost of coach time wasted on manual analysis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Source: NSCA Coach Survey 2024, Bureau of Labor Statistics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c747afc8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593988" y="116525"/>
            <a:ext cx="8122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94000" y="354634"/>
            <a:ext cx="445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From Metrics to Movement Prescription in Seconds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6125673c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1131838"/>
            <a:ext cx="8305800" cy="12056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723900" y="1475631"/>
            <a:ext cx="462685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LaunchLabs automates the expertise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23900" y="1807071"/>
            <a:ext cx="462685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AI-powered diagnosis → Exercise prescription → Personalized training plans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007870" y="1360438"/>
            <a:ext cx="1412230" cy="748457"/>
          </a:xfrm>
          <a:prstGeom prst="roundRect">
            <a:avLst>
              <a:gd fmla="val 15271" name="adj"/>
            </a:avLst>
          </a:prstGeom>
          <a:solidFill>
            <a:srgbClr val="0A16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236470" y="1474738"/>
            <a:ext cx="974131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10x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236470" y="1847999"/>
            <a:ext cx="97413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Faster Programming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9100" y="2527995"/>
            <a:ext cx="2667000" cy="2291358"/>
          </a:xfrm>
          <a:prstGeom prst="roundRect">
            <a:avLst>
              <a:gd fmla="val 4988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54518a8b.png"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71849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609600" y="3289995"/>
            <a:ext cx="233172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Automatic Weakness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09600" y="3579465"/>
            <a:ext cx="233172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Analyzes RSI, GCT, bilateral asymmetry, and approach bonus to identify limiting factors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609600" y="4178498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609600" y="4297561"/>
            <a:ext cx="233172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✓ Standing vs Approach Analysis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09600" y="4482257"/>
            <a:ext cx="233172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✓ Bilateral Imbalance Flags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38500" y="2527995"/>
            <a:ext cx="2667000" cy="2291358"/>
          </a:xfrm>
          <a:prstGeom prst="roundRect">
            <a:avLst>
              <a:gd fmla="val 4988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08c02ae.png" id="79" name="Google Shape;7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000" y="271849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3429000" y="3289995"/>
            <a:ext cx="233172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Exercise Rx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429000" y="3579465"/>
            <a:ext cx="233172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Prescribes specific exercises based on weakness type, training level, and sport demands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3429000" y="4178498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3429000" y="4297561"/>
            <a:ext cx="233172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✓ 50+ Exercise Library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429000" y="4482257"/>
            <a:ext cx="233172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✓ Sport-Specific Programming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57900" y="2527995"/>
            <a:ext cx="2667000" cy="2291358"/>
          </a:xfrm>
          <a:prstGeom prst="roundRect">
            <a:avLst>
              <a:gd fmla="val 4988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24cba6b8.png" id="86" name="Google Shape;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71849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248400" y="3289995"/>
            <a:ext cx="233172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 Training Plans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248400" y="3579465"/>
            <a:ext cx="233172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Generates periodized multi-week programs with warmups, workouts, and progression notes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6248400" y="4178498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248400" y="4297561"/>
            <a:ext cx="233172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✓ 4-12 Week Programs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248400" y="4482257"/>
            <a:ext cx="233172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✓ Print-Ready Output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Patent pending: Automated jump performance diagnosis system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07023ee6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609600" y="266700"/>
            <a:ext cx="81221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09600" y="470446"/>
            <a:ext cx="50812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Coach's Command Center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491407" y="1118146"/>
            <a:ext cx="963216" cy="679996"/>
          </a:xfrm>
          <a:prstGeom prst="roundRect">
            <a:avLst>
              <a:gd fmla="val 1120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676084" y="1232446"/>
            <a:ext cx="5938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676084" y="1537246"/>
            <a:ext cx="59386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 Data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568922" y="1324719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873722" y="1118146"/>
            <a:ext cx="1050429" cy="679996"/>
          </a:xfrm>
          <a:prstGeom prst="roundRect">
            <a:avLst>
              <a:gd fmla="val 1120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057528" y="1232446"/>
            <a:ext cx="6828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057528" y="1537246"/>
            <a:ext cx="68281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Auto-Analyze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038451" y="1324719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343251" y="1118146"/>
            <a:ext cx="852636" cy="679996"/>
          </a:xfrm>
          <a:prstGeom prst="roundRect">
            <a:avLst>
              <a:gd fmla="val 1120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29035" y="1232446"/>
            <a:ext cx="48106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29035" y="1537246"/>
            <a:ext cx="4810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310188" y="1324719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614988" y="1118146"/>
            <a:ext cx="858738" cy="679996"/>
          </a:xfrm>
          <a:prstGeom prst="roundRect">
            <a:avLst>
              <a:gd fmla="val 1120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800710" y="1232446"/>
            <a:ext cx="48729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800710" y="1537246"/>
            <a:ext cx="48729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Prescribe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588026" y="1324719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049c862.png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2826" y="1118146"/>
            <a:ext cx="759619" cy="679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7079540" y="1232446"/>
            <a:ext cx="3861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🏆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079540" y="1537246"/>
            <a:ext cx="38619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9100" y="1950541"/>
            <a:ext cx="2667000" cy="2539603"/>
          </a:xfrm>
          <a:prstGeom prst="roundRect">
            <a:avLst>
              <a:gd fmla="val 4501" name="adj"/>
            </a:avLst>
          </a:prstGeom>
          <a:solidFill>
            <a:srgbClr val="0F2744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81025" y="2112466"/>
            <a:ext cx="6090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619375" y="2154287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33675" y="2154287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847975" y="2154287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81025" y="2386757"/>
            <a:ext cx="730300" cy="531316"/>
          </a:xfrm>
          <a:prstGeom prst="roundRect">
            <a:avLst>
              <a:gd fmla="val 1075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51446" y="2462957"/>
            <a:ext cx="58945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56.5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51446" y="2721918"/>
            <a:ext cx="58945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Standing (cm)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387525" y="2386757"/>
            <a:ext cx="730300" cy="531316"/>
          </a:xfrm>
          <a:prstGeom prst="roundRect">
            <a:avLst>
              <a:gd fmla="val 1075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457946" y="2462957"/>
            <a:ext cx="58945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63.2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457946" y="2721918"/>
            <a:ext cx="58945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Approach (cm)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194024" y="2386757"/>
            <a:ext cx="730300" cy="531316"/>
          </a:xfrm>
          <a:prstGeom prst="roundRect">
            <a:avLst>
              <a:gd fmla="val 1075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264445" y="2462957"/>
            <a:ext cx="58945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+12%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264445" y="2721918"/>
            <a:ext cx="58945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Bonus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81025" y="3032373"/>
            <a:ext cx="2343150" cy="762000"/>
          </a:xfrm>
          <a:prstGeom prst="roundRect">
            <a:avLst>
              <a:gd fmla="val 75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57225" y="3474393"/>
            <a:ext cx="407640" cy="243780"/>
          </a:xfrm>
          <a:prstGeom prst="roundRect">
            <a:avLst>
              <a:gd fmla="val 7814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102965" y="3383012"/>
            <a:ext cx="407640" cy="335161"/>
          </a:xfrm>
          <a:prstGeom prst="roundRect">
            <a:avLst>
              <a:gd fmla="val 5684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548705" y="3291483"/>
            <a:ext cx="407640" cy="426690"/>
          </a:xfrm>
          <a:prstGeom prst="roundRect">
            <a:avLst>
              <a:gd fmla="val 4673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994446" y="3200102"/>
            <a:ext cx="407640" cy="518071"/>
          </a:xfrm>
          <a:prstGeom prst="roundRect">
            <a:avLst>
              <a:gd fmla="val 4673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440186" y="3139083"/>
            <a:ext cx="407640" cy="579090"/>
          </a:xfrm>
          <a:prstGeom prst="roundRect">
            <a:avLst>
              <a:gd fmla="val 4673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238500" y="1950541"/>
            <a:ext cx="2667000" cy="2539603"/>
          </a:xfrm>
          <a:prstGeom prst="roundRect">
            <a:avLst>
              <a:gd fmla="val 4501" name="adj"/>
            </a:avLst>
          </a:prstGeom>
          <a:solidFill>
            <a:srgbClr val="0F2744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400425" y="2112466"/>
            <a:ext cx="105185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Approach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400425" y="2386757"/>
            <a:ext cx="2343150" cy="481905"/>
          </a:xfrm>
          <a:prstGeom prst="roundRect">
            <a:avLst>
              <a:gd fmla="val 7906" name="adj"/>
            </a:avLst>
          </a:prstGeom>
          <a:solidFill>
            <a:srgbClr val="F59E0B">
              <a:alpha val="1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3414713" y="2386757"/>
            <a:ext cx="0" cy="481905"/>
          </a:xfrm>
          <a:prstGeom prst="straightConnector1">
            <a:avLst/>
          </a:prstGeom>
          <a:noFill/>
          <a:ln cap="flat" cmpd="sng" w="285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/>
          <p:nvPr/>
        </p:nvSpPr>
        <p:spPr>
          <a:xfrm>
            <a:off x="3524250" y="2482007"/>
            <a:ext cx="21665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⚠️ Poor Penultimate Step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524250" y="2653457"/>
            <a:ext cx="21665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Second-to-last step should be longer and lower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400425" y="2963912"/>
            <a:ext cx="2343150" cy="481905"/>
          </a:xfrm>
          <a:prstGeom prst="roundRect">
            <a:avLst>
              <a:gd fmla="val 7906" name="adj"/>
            </a:avLst>
          </a:prstGeom>
          <a:solidFill>
            <a:srgbClr val="F59E0B">
              <a:alpha val="1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4"/>
          <p:cNvCxnSpPr/>
          <p:nvPr/>
        </p:nvCxnSpPr>
        <p:spPr>
          <a:xfrm>
            <a:off x="3414713" y="2963912"/>
            <a:ext cx="0" cy="481905"/>
          </a:xfrm>
          <a:prstGeom prst="straightConnector1">
            <a:avLst/>
          </a:prstGeom>
          <a:noFill/>
          <a:ln cap="flat" cmpd="sng" w="285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4"/>
          <p:cNvSpPr/>
          <p:nvPr/>
        </p:nvSpPr>
        <p:spPr>
          <a:xfrm>
            <a:off x="3524250" y="3059162"/>
            <a:ext cx="21665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⚠️ Weak Arm Swing Timing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524250" y="3230612"/>
            <a:ext cx="21665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Arms not synchronized with takeoff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400425" y="3541068"/>
            <a:ext cx="239001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Recommended Exercises 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057900" y="1950541"/>
            <a:ext cx="2667000" cy="2539603"/>
          </a:xfrm>
          <a:prstGeom prst="roundRect">
            <a:avLst>
              <a:gd fmla="val 4501" name="adj"/>
            </a:avLst>
          </a:prstGeom>
          <a:solidFill>
            <a:srgbClr val="0F2744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219825" y="2112466"/>
            <a:ext cx="85526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Generated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19825" y="2386757"/>
            <a:ext cx="2343150" cy="323850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315075" y="2482007"/>
            <a:ext cx="71803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1: Strength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219825" y="2786807"/>
            <a:ext cx="2343150" cy="323850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315075" y="2882057"/>
            <a:ext cx="9261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2: Power + Plyo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219825" y="3186857"/>
            <a:ext cx="2343150" cy="323850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315075" y="3282107"/>
            <a:ext cx="10366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3: Approach Work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app • iOS • Android • Integrates with Hawkin, VALD, ForceDecks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e055ee57.png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609600" y="266700"/>
            <a:ext cx="81221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MARKET OPPORTUNITY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09600" y="470446"/>
            <a:ext cx="53823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Large TAM, Focused Entry Point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af50021.png"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1222921"/>
            <a:ext cx="1133921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/>
          <p:nvPr/>
        </p:nvSpPr>
        <p:spPr>
          <a:xfrm>
            <a:off x="630138" y="1547813"/>
            <a:ext cx="72593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$4.2B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98624" y="1921073"/>
            <a:ext cx="1782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705421" y="1535460"/>
            <a:ext cx="27684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Sports Performance Tech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705421" y="1760190"/>
            <a:ext cx="2768462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All performance analytics, wearables, and training software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69489659.png" id="173" name="Google Shape;17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2518321"/>
            <a:ext cx="928539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914846" y="2774603"/>
            <a:ext cx="71302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$680M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171426" y="3094583"/>
            <a:ext cx="18960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1881039" y="2735610"/>
            <a:ext cx="258933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Jump/Explosion Training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881039" y="2960340"/>
            <a:ext cx="2589333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Force plates, jump training software, plyometric systems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f152e7df.png" id="178" name="Google Shape;17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36232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/>
          <p:nvPr/>
        </p:nvSpPr>
        <p:spPr>
          <a:xfrm>
            <a:off x="1323826" y="3810893"/>
            <a:ext cx="4860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$85M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464320" y="4077593"/>
            <a:ext cx="19932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SOM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095500" y="3818483"/>
            <a:ext cx="233232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Coaching Software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095500" y="4043214"/>
            <a:ext cx="233232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Private coaches, HS/college programs, PT clinics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724400" y="1244352"/>
            <a:ext cx="40805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Segments (Year 1-2)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724400" y="1621482"/>
            <a:ext cx="4000500" cy="605582"/>
          </a:xfrm>
          <a:prstGeom prst="roundRect">
            <a:avLst>
              <a:gd fmla="val 1572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5"/>
          <p:cNvCxnSpPr/>
          <p:nvPr/>
        </p:nvCxnSpPr>
        <p:spPr>
          <a:xfrm>
            <a:off x="4743450" y="1621482"/>
            <a:ext cx="0" cy="605582"/>
          </a:xfrm>
          <a:prstGeom prst="straightConnector1">
            <a:avLst/>
          </a:prstGeom>
          <a:noFill/>
          <a:ln cap="flat" cmpd="sng" w="381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5"/>
          <p:cNvSpPr/>
          <p:nvPr/>
        </p:nvSpPr>
        <p:spPr>
          <a:xfrm>
            <a:off x="4895850" y="1754832"/>
            <a:ext cx="180586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 Jump/Speed Coaches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895850" y="1947118"/>
            <a:ext cx="18058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Volleyball, basketball, track specialists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025319" y="1757660"/>
            <a:ext cx="56623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12,000+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025319" y="1970931"/>
            <a:ext cx="56623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 US alone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724400" y="2341364"/>
            <a:ext cx="4000500" cy="605582"/>
          </a:xfrm>
          <a:prstGeom prst="roundRect">
            <a:avLst>
              <a:gd fmla="val 1572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4743450" y="2341364"/>
            <a:ext cx="0" cy="605582"/>
          </a:xfrm>
          <a:prstGeom prst="straightConnector1">
            <a:avLst/>
          </a:prstGeom>
          <a:noFill/>
          <a:ln cap="flat" cmpd="sng" w="381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4895850" y="2474714"/>
            <a:ext cx="137595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School Programs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895850" y="2667000"/>
            <a:ext cx="13759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Varsity VB, BB, Track &amp; Field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116098" y="2477542"/>
            <a:ext cx="47545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27,000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116098" y="2690813"/>
            <a:ext cx="47545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724400" y="3061246"/>
            <a:ext cx="4000500" cy="605582"/>
          </a:xfrm>
          <a:prstGeom prst="roundRect">
            <a:avLst>
              <a:gd fmla="val 1572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5"/>
          <p:cNvCxnSpPr/>
          <p:nvPr/>
        </p:nvCxnSpPr>
        <p:spPr>
          <a:xfrm>
            <a:off x="4743450" y="3061246"/>
            <a:ext cx="0" cy="605582"/>
          </a:xfrm>
          <a:prstGeom prst="straightConnector1">
            <a:avLst/>
          </a:prstGeom>
          <a:noFill/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5"/>
          <p:cNvSpPr/>
          <p:nvPr/>
        </p:nvSpPr>
        <p:spPr>
          <a:xfrm>
            <a:off x="4895850" y="3194596"/>
            <a:ext cx="1621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Sports Physical Therapists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895850" y="3386882"/>
            <a:ext cx="162157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Return-to-sport protocols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202475" y="3197423"/>
            <a:ext cx="389075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8,500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8202475" y="3410694"/>
            <a:ext cx="38907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deecabd9.png" id="202" name="Google Shape;20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3857327"/>
            <a:ext cx="4000500" cy="50661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/>
          <p:nvPr/>
        </p:nvSpPr>
        <p:spPr>
          <a:xfrm>
            <a:off x="4857750" y="4030563"/>
            <a:ext cx="154916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At $99/mo × 5% penetration =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702302" y="3990677"/>
            <a:ext cx="907033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$2.8M ARR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Sources: Grand View Research 2024, NFHS Participation Survey, APTA Member Database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081c444.png"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609600" y="266700"/>
            <a:ext cx="81221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COMPETITION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80200" y="434121"/>
            <a:ext cx="483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They Measure. We Prescribe.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9100" y="3463826"/>
            <a:ext cx="2667000" cy="1064419"/>
          </a:xfrm>
          <a:prstGeom prst="roundRect">
            <a:avLst>
              <a:gd fmla="val 894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33400" y="3578126"/>
            <a:ext cx="248716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🎯 Our Moat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33400" y="3827562"/>
            <a:ext cx="2487168" cy="586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intelligence layer</a:t>
            </a: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that sits between raw data and actionable training. Hardware companies can't build this. Generic software doesn't understand jump biomechanics.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238500" y="3463826"/>
            <a:ext cx="2667000" cy="1064419"/>
          </a:xfrm>
          <a:prstGeom prst="roundRect">
            <a:avLst>
              <a:gd fmla="val 894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352800" y="3578126"/>
            <a:ext cx="248716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🤝 Partner, Don't Compete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352800" y="3827562"/>
            <a:ext cx="2487168" cy="439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 with</a:t>
            </a: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Hawkin, VALD, and ForceDecks. Their customers become our customers. Hardware vendors become distribution partners.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057900" y="3463826"/>
            <a:ext cx="2667000" cy="1064419"/>
          </a:xfrm>
          <a:prstGeom prst="roundRect">
            <a:avLst>
              <a:gd fmla="val 894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172200" y="3578126"/>
            <a:ext cx="248716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📈 Network Effects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172200" y="3827562"/>
            <a:ext cx="2487168" cy="439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athlete trained </a:t>
            </a: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improves our algorithms</a:t>
            </a: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 More data = better prescriptions = better outcomes = more coaches.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Pricing as of Q4 2025. Feature comparison based on public product documentation.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6"/>
          <p:cNvGraphicFramePr/>
          <p:nvPr/>
        </p:nvGraphicFramePr>
        <p:xfrm>
          <a:off x="336063" y="80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{792C6251-386D-4156-ABA0-8030AD6EFC84}</a:tableStyleId>
              </a:tblPr>
              <a:tblGrid>
                <a:gridCol w="1694375"/>
                <a:gridCol w="1694375"/>
                <a:gridCol w="1694375"/>
                <a:gridCol w="1694375"/>
                <a:gridCol w="1694375"/>
              </a:tblGrid>
              <a:tr h="321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highlight>
                            <a:schemeClr val="accent1"/>
                          </a:highlight>
                        </a:rPr>
                        <a:t>Company</a:t>
                      </a:r>
                      <a:endParaRPr b="1" sz="11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highlight>
                            <a:schemeClr val="accent1"/>
                          </a:highlight>
                        </a:rPr>
                        <a:t>Data Collection</a:t>
                      </a:r>
                      <a:endParaRPr b="1" sz="11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highlight>
                            <a:schemeClr val="accent1"/>
                          </a:highlight>
                        </a:rPr>
                        <a:t>Weakness Diagnosis</a:t>
                      </a:r>
                      <a:endParaRPr b="1" sz="11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highlight>
                            <a:schemeClr val="accent1"/>
                          </a:highlight>
                        </a:rPr>
                        <a:t>Exercise Rx</a:t>
                      </a:r>
                      <a:endParaRPr b="1" sz="11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highlight>
                            <a:schemeClr val="accent1"/>
                          </a:highlight>
                        </a:rPr>
                        <a:t>Auto Programming</a:t>
                      </a:r>
                      <a:endParaRPr b="1" sz="11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Hawkin Dynamics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Excellent (Force Plates)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Basic / Visual Only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None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None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VALD Performance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Excellent (Force Plates)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Basic / Research-Oriented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None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None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TrainHeroic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Manual Entry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None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Manual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accent1"/>
                          </a:solidFill>
                        </a:rPr>
                        <a:t>None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00">
                          <a:solidFill>
                            <a:schemeClr val="accent1"/>
                          </a:solidFill>
                        </a:rPr>
                        <a:t>LaunchLabs</a:t>
                      </a:r>
                      <a:endParaRPr b="1" i="1" sz="16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Integrates with Hardware</a:t>
                      </a:r>
                      <a:endParaRPr b="1" sz="11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AI-Powered</a:t>
                      </a:r>
                      <a:endParaRPr b="1" sz="11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Automated</a:t>
                      </a:r>
                      <a:endParaRPr b="1" sz="11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accent1"/>
                          </a:solidFill>
                        </a:rPr>
                        <a:t>Automated</a:t>
                      </a:r>
                      <a:endParaRPr b="1" sz="11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4fe56f6f.png"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609600" y="266700"/>
            <a:ext cx="81221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Measures. Software Delivers. LaunchLabs Thinks.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Hawkin Dynamics / VALD / ForceDecks (Hardware Leaders)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Best-in-class force plate data collection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Strong visualization and benchmarking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Weakness diagnosis requires expert interpretation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automated exercise prescription or periodization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Opportunity: Their users already have data, but lack direction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TrainHeroic / TeamBuildr (Coaching Platforms)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Excellent program delivery and athlete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Manual data entry and manual program design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jump-specific biomechanics intelligence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Opportunity: They deliver programs; LaunchLabs creates them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LaunchLabs (Intelligence Layer)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Integrates with existing hardware and platforms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AI-powered jump weakness diagnosis (RSI, GCT, asymmetry, approach bonus)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Automated exercise prescription and multi-week programming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Built for volleyball, basketball, and explosive sports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moat: Biomechanics-specific intelligence that turns measurements into results.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09600" y="470446"/>
            <a:ext cx="50812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lang="en-US" sz="2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SaaS with Expansion Revenue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19100" y="979438"/>
            <a:ext cx="449387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Tiers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19100" y="1318468"/>
            <a:ext cx="4405759" cy="1020961"/>
          </a:xfrm>
          <a:prstGeom prst="roundRect">
            <a:avLst>
              <a:gd fmla="val 11195" name="adj"/>
            </a:avLst>
          </a:prstGeom>
          <a:solidFill>
            <a:srgbClr val="1E3A5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81025" y="1480393"/>
            <a:ext cx="134848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81025" y="1705124"/>
            <a:ext cx="134848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Private coaches, freelancers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273859" y="1480393"/>
            <a:ext cx="38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b="1" lang="en-US" sz="1800">
                <a:solidFill>
                  <a:srgbClr val="00D4FF"/>
                </a:solidFill>
              </a:rPr>
              <a:t>39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273859" y="1800374"/>
            <a:ext cx="38907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/month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42d1eada.png" id="239" name="Google Shape;2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2453729"/>
            <a:ext cx="4405759" cy="104001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/>
          <p:nvPr/>
        </p:nvSpPr>
        <p:spPr>
          <a:xfrm>
            <a:off x="590550" y="2625179"/>
            <a:ext cx="2267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90550" y="2849910"/>
            <a:ext cx="148085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Training facilities, HS programs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264334" y="2625179"/>
            <a:ext cx="38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$99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264334" y="2945160"/>
            <a:ext cx="38907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/month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19100" y="3608040"/>
            <a:ext cx="4405759" cy="1020961"/>
          </a:xfrm>
          <a:prstGeom prst="roundRect">
            <a:avLst>
              <a:gd fmla="val 11195" name="adj"/>
            </a:avLst>
          </a:prstGeom>
          <a:solidFill>
            <a:srgbClr val="1E3A5F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81025" y="3769965"/>
            <a:ext cx="154840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Enterprise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81025" y="3994696"/>
            <a:ext cx="154840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College, pro teams, PT networks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008049" y="3769965"/>
            <a:ext cx="6548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$299+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008049" y="4089946"/>
            <a:ext cx="65488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/month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053459" y="865287"/>
            <a:ext cx="374487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 Economics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053459" y="1204317"/>
            <a:ext cx="3671441" cy="2571304"/>
          </a:xfrm>
          <a:prstGeom prst="roundRect">
            <a:avLst>
              <a:gd fmla="val 4445" name="adj"/>
            </a:avLst>
          </a:prstGeom>
          <a:solidFill>
            <a:srgbClr val="0F2744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7"/>
          <p:cNvCxnSpPr/>
          <p:nvPr/>
        </p:nvCxnSpPr>
        <p:spPr>
          <a:xfrm>
            <a:off x="5253484" y="1736675"/>
            <a:ext cx="3271391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7"/>
          <p:cNvSpPr/>
          <p:nvPr/>
        </p:nvSpPr>
        <p:spPr>
          <a:xfrm>
            <a:off x="5253484" y="1404342"/>
            <a:ext cx="993713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Avg Contract Value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872264" y="1404342"/>
            <a:ext cx="66566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$1,188/yr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5253484" y="2226171"/>
            <a:ext cx="3271391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7"/>
          <p:cNvSpPr/>
          <p:nvPr/>
        </p:nvSpPr>
        <p:spPr>
          <a:xfrm>
            <a:off x="5253484" y="1893838"/>
            <a:ext cx="77116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CAC (blended)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185845" y="1893838"/>
            <a:ext cx="34581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7"/>
          <p:cNvCxnSpPr/>
          <p:nvPr/>
        </p:nvCxnSpPr>
        <p:spPr>
          <a:xfrm>
            <a:off x="5253484" y="2715667"/>
            <a:ext cx="3271391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7"/>
          <p:cNvSpPr/>
          <p:nvPr/>
        </p:nvSpPr>
        <p:spPr>
          <a:xfrm>
            <a:off x="5253484" y="2383334"/>
            <a:ext cx="69982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Gross Margin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8219777" y="2383334"/>
            <a:ext cx="31120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7"/>
          <p:cNvCxnSpPr/>
          <p:nvPr/>
        </p:nvCxnSpPr>
        <p:spPr>
          <a:xfrm>
            <a:off x="5253484" y="3205162"/>
            <a:ext cx="3271391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7"/>
          <p:cNvSpPr/>
          <p:nvPr/>
        </p:nvSpPr>
        <p:spPr>
          <a:xfrm>
            <a:off x="5253484" y="2872829"/>
            <a:ext cx="8361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Expected Churn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944594" y="2872829"/>
            <a:ext cx="59188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~5%/mo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253484" y="3362325"/>
            <a:ext cx="78407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LTV:CAC Ratio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8228261" y="3362325"/>
            <a:ext cx="30254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5.6x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45a1a8a2.png"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3459" y="3889921"/>
            <a:ext cx="3671441" cy="85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5215384" y="4051846"/>
            <a:ext cx="341454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📈 Expansion Revenue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215384" y="4288036"/>
            <a:ext cx="3414543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Coaches upgrade as roster grows. Add-ons: video analysis ($29/mo), custom branding ($19/mo), API calls ($0.02/call)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Projections based on comparable vertical SaaS companies (TrainHeroic, CoachAccountable)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9f110a95.png" id="274" name="Google Shape;2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8"/>
          <p:cNvSpPr/>
          <p:nvPr/>
        </p:nvSpPr>
        <p:spPr>
          <a:xfrm>
            <a:off x="609600" y="266700"/>
            <a:ext cx="81221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TRACTION &amp; ROADMAP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09600" y="470446"/>
            <a:ext cx="60333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lang="en-US" sz="2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Proven Demand, Clear Path to Scale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19100" y="1198513"/>
            <a:ext cx="411937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Current Traction (Beta)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19100" y="1537543"/>
            <a:ext cx="1962150" cy="916186"/>
          </a:xfrm>
          <a:prstGeom prst="roundRect">
            <a:avLst>
              <a:gd fmla="val 1039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54927" y="1689943"/>
            <a:ext cx="169049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54927" y="2154734"/>
            <a:ext cx="169049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Beta Users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495550" y="1537543"/>
            <a:ext cx="1962150" cy="916186"/>
          </a:xfrm>
          <a:prstGeom prst="roundRect">
            <a:avLst>
              <a:gd fmla="val 1039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631377" y="1689943"/>
            <a:ext cx="169049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2631377" y="2154734"/>
            <a:ext cx="169049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Would Pay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19100" y="2568029"/>
            <a:ext cx="4038600" cy="1043583"/>
          </a:xfrm>
          <a:prstGeom prst="roundRect">
            <a:avLst>
              <a:gd fmla="val 912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52450" y="2701379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Beta feedback highlights: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71376" y="2924175"/>
            <a:ext cx="317104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i="1"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"Finally something that tells me WHAT to do, not just what's wrong"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71376" y="3127921"/>
            <a:ext cx="301635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i="1"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"Approach bonus analysis is game-changing for my VB players"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771376" y="3331666"/>
            <a:ext cx="22471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i="1"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"Saved me 3+ hours per week of programming"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b7ee880f.png"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3725912"/>
            <a:ext cx="4038600" cy="68386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561975" y="3868787"/>
            <a:ext cx="382790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🤝 LOIs Signed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686300" y="1247775"/>
            <a:ext cx="411937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🗓️ Product Roadmap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84d20a6.png" id="292" name="Google Shape;2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1663005"/>
            <a:ext cx="19050" cy="262116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/>
          <p:nvPr/>
        </p:nvSpPr>
        <p:spPr>
          <a:xfrm>
            <a:off x="4724400" y="1624905"/>
            <a:ext cx="114300" cy="114300"/>
          </a:xfrm>
          <a:prstGeom prst="roundRect">
            <a:avLst>
              <a:gd fmla="val 800000" name="adj"/>
            </a:avLst>
          </a:prstGeom>
          <a:solidFill>
            <a:srgbClr val="00D4FF"/>
          </a:solidFill>
          <a:ln cap="flat" cmpd="sng" w="1905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914900" y="1586805"/>
            <a:ext cx="3810000" cy="579090"/>
          </a:xfrm>
          <a:prstGeom prst="roundRect">
            <a:avLst>
              <a:gd fmla="val 1315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029200" y="1701105"/>
            <a:ext cx="44736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Q1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029200" y="191824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Public launch • Hawkin integration • Mobile app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724400" y="2356396"/>
            <a:ext cx="114300" cy="114300"/>
          </a:xfrm>
          <a:prstGeom prst="roundRect">
            <a:avLst>
              <a:gd fmla="val 800000" name="adj"/>
            </a:avLst>
          </a:prstGeom>
          <a:solidFill>
            <a:srgbClr val="8B5CF6"/>
          </a:solidFill>
          <a:ln cap="flat" cmpd="sng" w="1905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914900" y="2318296"/>
            <a:ext cx="3810000" cy="579090"/>
          </a:xfrm>
          <a:prstGeom prst="roundRect">
            <a:avLst>
              <a:gd fmla="val 1315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029200" y="2432596"/>
            <a:ext cx="365302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Q2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029200" y="264973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VALD &amp; ForceDecks integration • Video analysis (AI pose)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724400" y="3087886"/>
            <a:ext cx="114300" cy="114300"/>
          </a:xfrm>
          <a:prstGeom prst="roundRect">
            <a:avLst>
              <a:gd fmla="val 800000" name="adj"/>
            </a:avLst>
          </a:prstGeom>
          <a:solidFill>
            <a:srgbClr val="10B981"/>
          </a:solidFill>
          <a:ln cap="flat" cmpd="sng" w="1905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914900" y="3049786"/>
            <a:ext cx="3810000" cy="579090"/>
          </a:xfrm>
          <a:prstGeom prst="roundRect">
            <a:avLst>
              <a:gd fmla="val 1315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029200" y="3164086"/>
            <a:ext cx="365302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Q3-Q4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029200" y="338122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Team analytics dashboard • White-label for PT networks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724400" y="3819376"/>
            <a:ext cx="114300" cy="114300"/>
          </a:xfrm>
          <a:prstGeom prst="roundRect">
            <a:avLst>
              <a:gd fmla="val 800000" name="adj"/>
            </a:avLst>
          </a:prstGeom>
          <a:solidFill>
            <a:srgbClr val="F59E0B"/>
          </a:solidFill>
          <a:ln cap="flat" cmpd="sng" w="1905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914900" y="3781276"/>
            <a:ext cx="3810000" cy="579090"/>
          </a:xfrm>
          <a:prstGeom prst="roundRect">
            <a:avLst>
              <a:gd fmla="val 1315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029200" y="3895576"/>
            <a:ext cx="365302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2027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029200" y="411271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Smartphone-only jump measurement (no hardware needed)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19100" y="4794945"/>
            <a:ext cx="847191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Beta program started October 2025. LOIs non-binding but indicate strong intent.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24c87b1c.png" id="315" name="Google Shape;3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rasterized-gradient-c85d9c36.png" id="316" name="Google Shape;3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286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rasterized-gradient-ceee15f3.png" id="317" name="Google Shape;3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1166" y="10224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/>
          <p:nvPr/>
        </p:nvSpPr>
        <p:spPr>
          <a:xfrm>
            <a:off x="2122785" y="1092845"/>
            <a:ext cx="4898282" cy="1097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mpact"/>
              <a:buNone/>
            </a:pPr>
            <a:r>
              <a:rPr lang="en-US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Intelligence Layer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mpact"/>
              <a:buNone/>
            </a:pPr>
            <a:r>
              <a:rPr lang="en-US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for Jump Training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874888" y="2494806"/>
            <a:ext cx="539407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Transforming how coaches turn metrics into measurable athlete improvements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2357101" y="3127177"/>
            <a:ext cx="91477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$85M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357101" y="3538538"/>
            <a:ext cx="91477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Serviceable Market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491508" y="3127177"/>
            <a:ext cx="9525" cy="55795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720083" y="3127177"/>
            <a:ext cx="974131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10x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720083" y="3538538"/>
            <a:ext cx="97413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Faster Programming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913263" y="3127177"/>
            <a:ext cx="9525" cy="55795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146197" y="3127177"/>
            <a:ext cx="52949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5.6x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146197" y="3538538"/>
            <a:ext cx="52949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LTV:CAC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899100" y="3127177"/>
            <a:ext cx="9525" cy="55795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130818" y="3127177"/>
            <a:ext cx="653519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$5K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130818" y="3538538"/>
            <a:ext cx="65351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Pre-Seed Ask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e36f0371.png" id="331" name="Google Shape;33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5613" y="4142333"/>
            <a:ext cx="3152626" cy="89892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/>
          <p:nvPr/>
        </p:nvSpPr>
        <p:spPr>
          <a:xfrm>
            <a:off x="3362422" y="4304258"/>
            <a:ext cx="241900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Let's Talk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020269" y="4553694"/>
            <a:ext cx="1103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706500" y="4776600"/>
            <a:ext cx="1731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0D4FF"/>
                </a:solidFill>
              </a:rPr>
              <a:t>nguyenvinny33@gmail.com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04800" y="4794945"/>
            <a:ext cx="78407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© 2026 LaunchLabs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386465" y="4794945"/>
            <a:ext cx="46179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2026-01-22T15:43:55Z</dcterms:created>
  <dc:creator>Jump Performance Pro</dc:creator>
</cp:coreProperties>
</file>